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16352"/>
            <a:ext cx="12191695" cy="411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4800" b="1">
                <a:solidFill>
                  <a:srgbClr val="E2E8F0"/>
                </a:solidFill>
                <a:latin typeface="Segoe UI"/>
              </a:rPr>
              <a:t>🚆 Escapade sans voiture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500" b="0">
                <a:solidFill>
                  <a:srgbClr val="38BDF8"/>
                </a:solidFill>
                <a:latin typeface="Segoe UI"/>
              </a:rPr>
              <a:t>« Où partir en train selon mes envies ?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Recommandateur de destinations accessibles en train, activités 100 % à pied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41648" y="4983480"/>
            <a:ext cx="411480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41648" y="4983480"/>
            <a:ext cx="4114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Segoe UI"/>
              </a:rPr>
              <a:t>Démo fonctionnelle · données réelles du 11/06/2026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EFREI Paris · Learning XP — Tourisme en train · 8–12 juin 2026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Zbiri Salah Eddine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Voyager sans voiture, c'est décourageant à organiser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960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6654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Segoe UI"/>
              </a:rPr>
              <a:t>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4767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3 recherches à croiser à la main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horaires de train · météo à l'arrivée · activités sur 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99232"/>
            <a:ext cx="10607040" cy="960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Segoe UI"/>
              </a:rPr>
              <a:t>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18104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La vraie question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« qu'est-ce que je pourrai faire une fois là-bas, à pied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9664"/>
            <a:ext cx="10607040" cy="960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074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Segoe UI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88536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Le piège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une belle destination mal desservie à pied devient inutile sans voiture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40680"/>
            <a:ext cx="10607040" cy="914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53212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Segoe UI"/>
              </a:rPr>
              <a:t>Cible : </a:t>
            </a:r>
            <a:r>
              <a:rPr sz="1700" b="0">
                <a:solidFill>
                  <a:srgbClr val="E2E8F0"/>
                </a:solidFill>
                <a:latin typeface="Segoe UI"/>
              </a:rPr>
              <a:t>grand public sans voiture — étudiants, familles, couples en week-end, touristes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La solution : un service, pas un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Une réponse directe : où aller, et quoi faire à pied une fois là-bas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070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64008" cy="10241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Segoe UI"/>
              </a:rPr>
              <a:t>ENTRÉE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0574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gare de départ (2 782 gares) · centres d'intérêt · rayon de marche 500 m – 2 km · durée max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99232"/>
            <a:ext cx="106070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999232"/>
            <a:ext cx="64008" cy="10241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7355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Segoe UI"/>
              </a:rPr>
              <a:t>TRAITEMENT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7355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trajet SNCF + météo + activités à pied + affluence + CO₂  →  score pondéré explicable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15384"/>
            <a:ext cx="106070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215384"/>
            <a:ext cx="64008" cy="10241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970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22C55E"/>
                </a:solidFill>
                <a:latin typeface="Segoe UI"/>
              </a:rPr>
              <a:t>RÉPONSE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489704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top des destinations classées + liste nominative des activités faisables à pied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541264"/>
            <a:ext cx="5184648" cy="658368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41264"/>
            <a:ext cx="5184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🖥️  App web Streamlit — carte interactive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5541264"/>
            <a:ext cx="5184648" cy="658368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5541264"/>
            <a:ext cx="5184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⌨️  CLI + rapport HTML — carte Leaflet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Démo — application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Streamlit · carte pydeck · classement et activités en 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pic>
        <p:nvPicPr>
          <p:cNvPr id="6" name="Picture 5" descr="app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1572768"/>
            <a:ext cx="8642386" cy="4754880"/>
          </a:xfrm>
          <a:prstGeom prst="rect">
            <a:avLst/>
          </a:prstGeom>
          <a:ln w="19050">
            <a:solidFill>
              <a:srgbClr val="33415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22C55E"/>
                </a:solidFill>
                <a:latin typeface="Consolas"/>
              </a:rPr>
              <a:t>streamlit run app.py</a:t>
            </a:r>
            <a:r>
              <a:rPr sz="1300" b="0">
                <a:solidFill>
                  <a:srgbClr val="94A3B8"/>
                </a:solidFill>
                <a:latin typeface="Segoe UI"/>
              </a:rPr>
              <a:t>   →  http://localhost:8502 — capture réelle, données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Démo — rapport HTML partageable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Généré en 1 commande · cartes + carte Leaflet/OpenStreetMap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pic>
        <p:nvPicPr>
          <p:cNvPr id="6" name="Picture 5" descr="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572768"/>
            <a:ext cx="9847607" cy="4754880"/>
          </a:xfrm>
          <a:prstGeom prst="rect">
            <a:avLst/>
          </a:prstGeom>
          <a:ln w="19050">
            <a:solidFill>
              <a:srgbClr val="33415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22C55E"/>
                </a:solidFill>
                <a:latin typeface="Consolas"/>
              </a:rPr>
              <a:t>python src/escapade/recommender.py --html</a:t>
            </a:r>
            <a:r>
              <a:rPr sz="1300" b="0">
                <a:solidFill>
                  <a:srgbClr val="94A3B8"/>
                </a:solidFill>
                <a:latin typeface="Segoe UI"/>
              </a:rPr>
              <a:t>   →  escapade_report.html, envoyable à un ami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Un connecteur par source · tout passe par un cache JSON avec repli automatique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481328"/>
            <a:ext cx="3200400" cy="530352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1481328"/>
            <a:ext cx="3200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👤  Utilisateur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98464" y="2084831"/>
            <a:ext cx="201168" cy="292608"/>
          </a:xfrm>
          <a:prstGeom prst="down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70048" y="2432304"/>
            <a:ext cx="685800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2432304"/>
            <a:ext cx="6858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Consolas"/>
              </a:rPr>
              <a:t>app.py</a:t>
            </a:r>
            <a:r>
              <a:rPr sz="1400" b="1">
                <a:solidFill>
                  <a:srgbClr val="E2E8F0"/>
                </a:solidFill>
                <a:latin typeface="Segoe UI"/>
              </a:rPr>
              <a:t> (Streamlit)   ·   </a:t>
            </a:r>
            <a:r>
              <a:rPr sz="1400" b="1">
                <a:solidFill>
                  <a:srgbClr val="38BDF8"/>
                </a:solidFill>
                <a:latin typeface="Consolas"/>
              </a:rPr>
              <a:t>recommender.py</a:t>
            </a:r>
            <a:r>
              <a:rPr sz="1400" b="1">
                <a:solidFill>
                  <a:srgbClr val="E2E8F0"/>
                </a:solidFill>
                <a:latin typeface="Segoe UI"/>
              </a:rPr>
              <a:t> (CLI + rapport HTML)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98464" y="3054096"/>
            <a:ext cx="201168" cy="292608"/>
          </a:xfrm>
          <a:prstGeom prst="down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70048" y="3401568"/>
            <a:ext cx="6858000" cy="603504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3401568"/>
            <a:ext cx="68580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Moteur de recommandation — </a:t>
            </a:r>
            <a:r>
              <a:rPr sz="1400" b="1">
                <a:solidFill>
                  <a:srgbClr val="94A3B8"/>
                </a:solidFill>
                <a:latin typeface="Segoe UI"/>
              </a:rPr>
              <a:t>collecte · affinité ML (cosinus) · score min-max pondéré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98464" y="4059936"/>
            <a:ext cx="201168" cy="292608"/>
          </a:xfrm>
          <a:prstGeom prst="down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43984"/>
            <a:ext cx="1700784" cy="8412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43984"/>
            <a:ext cx="170078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2E8F0"/>
                </a:solidFill>
                <a:latin typeface="Segoe UI"/>
              </a:rPr>
              <a:t>API SNCF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/places · /journeys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2148" y="4443984"/>
            <a:ext cx="1700784" cy="8412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2148" y="4443984"/>
            <a:ext cx="170078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2E8F0"/>
                </a:solidFill>
                <a:latin typeface="Segoe UI"/>
              </a:rPr>
              <a:t>Open-Meteo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météo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7056" y="4443984"/>
            <a:ext cx="1700784" cy="8412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7056" y="4443984"/>
            <a:ext cx="170078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2E8F0"/>
                </a:solidFill>
                <a:latin typeface="Segoe UI"/>
              </a:rPr>
              <a:t>DATAtourisme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(repli OSM)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1964" y="4443984"/>
            <a:ext cx="1700784" cy="8412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1964" y="4443984"/>
            <a:ext cx="170078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2E8F0"/>
                </a:solidFill>
                <a:latin typeface="Segoe UI"/>
              </a:rPr>
              <a:t>OpenAgenda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événements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16872" y="4443984"/>
            <a:ext cx="1700784" cy="8412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6872" y="4443984"/>
            <a:ext cx="170078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2E8F0"/>
                </a:solidFill>
                <a:latin typeface="Segoe UI"/>
              </a:rPr>
              <a:t>ADEME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CO₂ voiture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01780" y="4443984"/>
            <a:ext cx="1700784" cy="8412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01780" y="4443984"/>
            <a:ext cx="170078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2E8F0"/>
                </a:solidFill>
                <a:latin typeface="Segoe UI"/>
              </a:rPr>
              <a:t>frequentation-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gares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596128"/>
            <a:ext cx="10607040" cy="85953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669280"/>
            <a:ext cx="10149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  <a:latin typeface="Segoe UI"/>
              </a:rPr>
              <a:t>🛟 Mode dégradé : </a:t>
            </a:r>
            <a:r>
              <a:rPr sz="1400" b="0">
                <a:solidFill>
                  <a:srgbClr val="94A3B8"/>
                </a:solidFill>
                <a:latin typeface="Segoe UI"/>
              </a:rPr>
              <a:t>chaque appel passe par cache/*.json — si l'API échoue ou </a:t>
            </a:r>
            <a:r>
              <a:rPr sz="1300" b="0">
                <a:solidFill>
                  <a:srgbClr val="E2E8F0"/>
                </a:solidFill>
                <a:latin typeface="Consolas"/>
              </a:rPr>
              <a:t>RECO_CACHE_FIRST=1</a:t>
            </a:r>
            <a:r>
              <a:rPr sz="1400" b="0">
                <a:solidFill>
                  <a:srgbClr val="94A3B8"/>
                </a:solidFill>
                <a:latin typeface="Segoe UI"/>
              </a:rPr>
              <a:t>, on sert le cache : la démo tourne hors-ligne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7 sources de données croisées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Open data + APIs temps réel — aucune feature ne dépend uniquement de l'API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1060704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API SNCF /places · /journeys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74650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résolution des gares, durée du trajet, CO₂ train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755648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04120" y="1755648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central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1060704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1401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Open-Meteo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41401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météo à l'arrivée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2423160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2423160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2C55E"/>
                </a:solidFill>
                <a:latin typeface="Segoe UI"/>
              </a:rPr>
              <a:t>sans clé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99232"/>
            <a:ext cx="1060704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DATAtourisme → repli OpenStreetMap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08152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POIs touristiques dans le rayon de marche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3090672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3090672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clé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66744"/>
            <a:ext cx="1060704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749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frequentation-gares (SNCF)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7490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voyageurs/an → critère « calme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375818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3758184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2C55E"/>
                </a:solidFill>
                <a:latin typeface="Segoe UI"/>
              </a:rPr>
              <a:t>sans clé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334256"/>
            <a:ext cx="1060704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4165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ADEME Impact CO2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41655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CO₂ voiture officiel → économie vs voiture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4425696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4425696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clé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001768"/>
            <a:ext cx="1060704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08406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OpenAgenda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08406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événements à venir dans la ville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04120" y="5093208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5093208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clé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669280"/>
            <a:ext cx="1060704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75157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gares-de-voyageurs (SNCF)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75157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référentiel des 2 782 gares de départ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04120" y="5760720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5760720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2C55E"/>
                </a:solidFill>
                <a:latin typeface="Segoe UI"/>
              </a:rPr>
              <a:t>sans clé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Machine learning — affinité content-based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Similarité cosinus entre le profil d'activités de la ville et les envies de l'utilisateur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12064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Chaque ville = un vecteur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nb de POIs par catégorie :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Annecy = [plage 0 · culture 5 · patrim. 3 ·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          nature 2 · gastro 4]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600" b="0">
                <a:solidFill>
                  <a:srgbClr val="E2E8F0"/>
                </a:solidFill>
                <a:latin typeface="Segoe UI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>
                <a:solidFill>
                  <a:srgbClr val="22C55E"/>
                </a:solidFill>
                <a:latin typeface="Consolas"/>
              </a:rPr>
              <a:t>envies  = [0 · 1 · 1 · 0 · 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737360"/>
            <a:ext cx="512064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745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Affinité = cos(ville, envies)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3774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∈ [0, 1] — à quel point la ville colle aux envies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600" b="0">
                <a:solidFill>
                  <a:srgbClr val="E2E8F0"/>
                </a:solidFill>
                <a:latin typeface="Segoe UI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22C55E"/>
                </a:solidFill>
                <a:latin typeface="Consolas"/>
              </a:rPr>
              <a:t>cos(Annecy, envies) = 0.98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→ 1er critère du score (poids 0.30)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348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1">
                <a:solidFill>
                  <a:srgbClr val="E2E8F0"/>
                </a:solidFill>
                <a:latin typeface="Segoe UI"/>
              </a:rPr>
              <a:t>Filtrage content-based</a:t>
            </a:r>
            <a:r>
              <a:rPr sz="1500" b="0">
                <a:solidFill>
                  <a:srgbClr val="94A3B8"/>
                </a:solidFill>
                <a:latin typeface="Segoe UI"/>
              </a:rPr>
              <a:t> — pas de boîte noire — on sait toujours pourquoi une ville est proposée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1">
                <a:solidFill>
                  <a:srgbClr val="E2E8F0"/>
                </a:solidFill>
                <a:latin typeface="Segoe UI"/>
              </a:rPr>
              <a:t>Personnalisé</a:t>
            </a:r>
            <a:r>
              <a:rPr sz="1500" b="0">
                <a:solidFill>
                  <a:srgbClr val="94A3B8"/>
                </a:solidFill>
                <a:latin typeface="Segoe UI"/>
              </a:rPr>
              <a:t> — le même classement change si on coche « plage » au lieu de « culture »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•  </a:t>
            </a:r>
            <a:r>
              <a:rPr sz="1500" b="1">
                <a:solidFill>
                  <a:srgbClr val="E2E8F0"/>
                </a:solidFill>
                <a:latin typeface="Segoe UI"/>
              </a:rPr>
              <a:t>Implémentation maison</a:t>
            </a:r>
            <a:r>
              <a:rPr sz="1500" b="0">
                <a:solidFill>
                  <a:srgbClr val="94A3B8"/>
                </a:solidFill>
                <a:latin typeface="Segoe UI"/>
              </a:rPr>
              <a:t> — ml.py, ~30 lignes, numpy uniquement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Score composite explicable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Normalisation min-max · pondérations justifiées (guide 06) · détail par critère affiché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96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🎯 Affinité (ML)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47088"/>
            <a:ext cx="47548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1847088"/>
            <a:ext cx="4754880" cy="36576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47088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74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similarité cosinus profil ville ↔ envies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☀️ Soleil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606040"/>
            <a:ext cx="47548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2606040"/>
            <a:ext cx="396240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606040"/>
            <a:ext cx="3962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0.25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33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indice météo à l'arrivée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🤫 Calme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364992"/>
            <a:ext cx="47548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3364992"/>
            <a:ext cx="3169920" cy="36576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364992"/>
            <a:ext cx="316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0.20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392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fréquentation de la gare, inversée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965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⏱️ Durée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4123944"/>
            <a:ext cx="47548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0" y="4123944"/>
            <a:ext cx="2377440" cy="365760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4123944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0.15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513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trajet inversé — escapade, pas expédition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554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🌍 CO₂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4882896"/>
            <a:ext cx="47548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00400" y="4882896"/>
            <a:ext cx="1584960" cy="365760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4882896"/>
            <a:ext cx="1584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0.10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émissions inversées — promesse bas carbone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760720"/>
            <a:ext cx="1060704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815584"/>
            <a:ext cx="10149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Honnêteté : </a:t>
            </a:r>
            <a:r>
              <a:rPr sz="1350" b="0">
                <a:solidFill>
                  <a:srgbClr val="94A3B8"/>
                </a:solidFill>
                <a:latin typeface="Segoe UI"/>
              </a:rPr>
              <a:t>on affiche le détail par critère, pas seulement le score final — limites assumées en soutenance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Résultat réel — 11 juin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Depuis Paris Gare de Lyon · culture / gastronomie / patrimoine · 1 km à pied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737360"/>
            <a:ext cx="9784080" cy="1965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956816"/>
            <a:ext cx="9052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#   Destination              Durée   Activ.   Affinité   Score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1   Annecy                    3h43      12       0.98      0.91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2   Avignon Centre            3h40      19       0.89      0.86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3   Montpellier Saint-Roch    3h35      16       0.85      0.82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93192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900" b="1">
                <a:solidFill>
                  <a:srgbClr val="22C55E"/>
                </a:solidFill>
                <a:latin typeface="Segoe UI"/>
              </a:rPr>
              <a:t>🚆 Cap sur Annecy — affinité 98 %, −61 kg CO₂ vs voiture, 88 événements à venir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À pied : Esplanade Paul Grimault · Chez Mamie Lise · Porte Perrière · Médiathèque Bonlieu…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5349240"/>
            <a:ext cx="777240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544068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Preuve d'usage API : </a:t>
            </a:r>
            <a:r>
              <a:rPr sz="1350" b="0">
                <a:solidFill>
                  <a:srgbClr val="94A3B8"/>
                </a:solidFill>
                <a:latin typeface="Segoe UI"/>
              </a:rPr>
              <a:t>vraies requêtes authentifiées (HTTP 200) — </a:t>
            </a:r>
            <a:r>
              <a:rPr sz="1250" b="0">
                <a:solidFill>
                  <a:srgbClr val="22C55E"/>
                </a:solidFill>
                <a:latin typeface="Consolas"/>
              </a:rPr>
              <a:t>curl -u $SNCF_API_KEY: …/journeys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Robustesse &amp;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Les bonnes pratiques du module, appliquées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07040" cy="9875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299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Segoe UI"/>
              </a:rP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11096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>
                <a:solidFill>
                  <a:srgbClr val="E2E8F0"/>
                </a:solidFill>
                <a:latin typeface="Segoe UI"/>
              </a:rPr>
              <a:t>Clés jamais exposées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.env à la racine, dans le .gitignore — auth en header HTTP Basic, jamais dans l'URL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35224"/>
            <a:ext cx="10607040" cy="9875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82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Segoe UI"/>
              </a:rPr>
              <a:t>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6324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>
                <a:solidFill>
                  <a:srgbClr val="E2E8F0"/>
                </a:solidFill>
                <a:latin typeface="Segoe UI"/>
              </a:rPr>
              <a:t>Mode dégradé systématique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cache JSON par appel + repli automatique — démo possible 100 % hors-ligne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87368"/>
            <a:ext cx="10607040" cy="9875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3425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Segoe UI"/>
              </a:rPr>
              <a:t>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15384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>
                <a:solidFill>
                  <a:srgbClr val="E2E8F0"/>
                </a:solidFill>
                <a:latin typeface="Segoe UI"/>
              </a:rPr>
              <a:t>Quota surveillé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compteur journalier (5 000 req/j) avec alerte à 3 000 → bascule 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239512"/>
            <a:ext cx="10607040" cy="9875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Segoe UI"/>
              </a:rPr>
              <a:t>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367528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50" b="1">
                <a:solidFill>
                  <a:srgbClr val="E2E8F0"/>
                </a:solidFill>
                <a:latin typeface="Segoe UI"/>
              </a:rPr>
              <a:t>Replis par source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DATAtourisme → OpenStreetMap · ADEME → facteur SNCF 89 g/km · politesse Overpass 1 req/s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>
                <a:solidFill>
                  <a:srgbClr val="E2E8F0"/>
                </a:solidFill>
                <a:latin typeface="Segoe UI"/>
              </a:rPr>
              <a:t>Limites assumées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L'honnêteté fait partie du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457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F59E0B"/>
                </a:solidFill>
                <a:latin typeface="Segoe UI"/>
              </a:rPr>
              <a:t>Limites connues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E2E8F0"/>
                </a:solidFill>
                <a:latin typeface="Segoe UI"/>
              </a:rPr>
              <a:t>15 destinations codées en dur</a:t>
            </a:r>
            <a:r>
              <a:rPr sz="1450" b="0">
                <a:solidFill>
                  <a:srgbClr val="94A3B8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E2E8F0"/>
                </a:solidFill>
                <a:latin typeface="Segoe UI"/>
              </a:rPr>
              <a:t>Météo du jour</a:t>
            </a:r>
            <a:r>
              <a:rPr sz="1450" b="0">
                <a:solidFill>
                  <a:srgbClr val="94A3B8"/>
                </a:solidFill>
                <a:latin typeface="Segoe UI"/>
              </a:rPr>
              <a:t> — pas la date exacte du week-end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E2E8F0"/>
                </a:solidFill>
                <a:latin typeface="Segoe UI"/>
              </a:rPr>
              <a:t>Min-max sensible aux extrêmes</a:t>
            </a:r>
            <a:r>
              <a:rPr sz="1450" b="0">
                <a:solidFill>
                  <a:srgbClr val="94A3B8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E2E8F0"/>
                </a:solidFill>
                <a:latin typeface="Segoe UI"/>
              </a:rPr>
              <a:t>Comptage POIs approximatif</a:t>
            </a:r>
            <a:r>
              <a:rPr sz="1450" b="0">
                <a:solidFill>
                  <a:srgbClr val="94A3B8"/>
                </a:solidFill>
                <a:latin typeface="Segoe UI"/>
              </a:rPr>
              <a:t> — pas de tri qualitatif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276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22C55E"/>
                </a:solidFill>
                <a:latin typeface="Segoe UI"/>
              </a:rPr>
              <a:t>Pistes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E2E8F0"/>
                </a:solidFill>
                <a:latin typeface="Segoe UI"/>
              </a:rPr>
              <a:t>Destinations dynamiques</a:t>
            </a:r>
            <a:r>
              <a:rPr sz="1450" b="0">
                <a:solidFill>
                  <a:srgbClr val="94A3B8"/>
                </a:solidFill>
                <a:latin typeface="Segoe UI"/>
              </a:rPr>
              <a:t> — toute gare à ≤ X h (isochrones)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E2E8F0"/>
                </a:solidFill>
                <a:latin typeface="Segoe UI"/>
              </a:rPr>
              <a:t>Météo à la date du séjour</a:t>
            </a:r>
            <a:r>
              <a:rPr sz="1450" b="0">
                <a:solidFill>
                  <a:srgbClr val="94A3B8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E2E8F0"/>
                </a:solidFill>
                <a:latin typeface="Segoe UI"/>
              </a:rPr>
              <a:t>Filtre accessibilité PMR</a:t>
            </a:r>
            <a:r>
              <a:rPr sz="1450" b="0">
                <a:solidFill>
                  <a:srgbClr val="94A3B8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1">
                <a:solidFill>
                  <a:srgbClr val="38BDF8"/>
                </a:solidFill>
                <a:latin typeface="Segoe UI"/>
              </a:rPr>
              <a:t>•  </a:t>
            </a:r>
            <a:r>
              <a:rPr sz="1450" b="1">
                <a:solidFill>
                  <a:srgbClr val="E2E8F0"/>
                </a:solidFill>
                <a:latin typeface="Segoe UI"/>
              </a:rPr>
              <a:t>Angle prix</a:t>
            </a:r>
            <a:r>
              <a:rPr sz="1450" b="0">
                <a:solidFill>
                  <a:srgbClr val="94A3B8"/>
                </a:solidFill>
                <a:latin typeface="Segoe UI"/>
              </a:rPr>
              <a:t> — TGVmax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74920"/>
            <a:ext cx="10607040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230368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Merci !  </a:t>
            </a:r>
            <a:r>
              <a:rPr sz="1700" b="0">
                <a:solidFill>
                  <a:srgbClr val="38BDF8"/>
                </a:solidFill>
                <a:latin typeface="Segoe UI"/>
              </a:rPr>
              <a:t>Place à la démo 🚆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22C55E"/>
                </a:solidFill>
                <a:latin typeface="Consolas"/>
              </a:rPr>
              <a:t>streamlit run app.py</a:t>
            </a:r>
            <a:r>
              <a:rPr sz="1300" b="0">
                <a:solidFill>
                  <a:srgbClr val="94A3B8"/>
                </a:solidFill>
                <a:latin typeface="Segoe UI"/>
              </a:rPr>
              <a:t>  ·  code commenté · mode dégradé · clés sécurisées · scoring explicable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