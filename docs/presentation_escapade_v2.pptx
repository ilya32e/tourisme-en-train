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16352"/>
            <a:ext cx="12191695" cy="4114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4800" b="1">
                <a:solidFill>
                  <a:srgbClr val="E2E8F0"/>
                </a:solidFill>
                <a:latin typeface="Segoe UI"/>
              </a:rPr>
              <a:t>🚆 Escapade sans voiture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500" b="0">
                <a:solidFill>
                  <a:srgbClr val="38BDF8"/>
                </a:solidFill>
                <a:latin typeface="Segoe UI"/>
              </a:rPr>
              <a:t>« Où partir en train selon mes envies ?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94A3B8"/>
                </a:solidFill>
                <a:latin typeface="Segoe UI"/>
              </a:rPr>
              <a:t>Recommandateur de destinations accessibles en train, activités 100 % à pied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41648" y="4983480"/>
            <a:ext cx="41148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41648" y="4983480"/>
            <a:ext cx="41148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22C55E"/>
                </a:solidFill>
                <a:latin typeface="Segoe UI"/>
              </a:rPr>
              <a:t>Démo fonctionnelle · données réelles du 11/06/2026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978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EFREI Paris · Learning XP — Tourisme en train · 8–12 juin 2026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Zbiri Salah Eddine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Voyager sans voiture, c'est décourageant à organiser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6654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47672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3 recherches à croiser à la main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horaires de train · météo à l'arrivée · activités sur 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99232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23697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118104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La vraie question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« qu'est-ce que je pourrai faire une fois là-bas, à pied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69664"/>
            <a:ext cx="10607040" cy="9601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40740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⚠️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288536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E2E8F0"/>
                </a:solidFill>
                <a:latin typeface="Segoe UI"/>
              </a:rPr>
              <a:t>Le piège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une belle destination mal desservie à pied devient inutile sans voiture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440680"/>
            <a:ext cx="10607040" cy="91440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532120"/>
            <a:ext cx="100584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Cible : </a:t>
            </a:r>
            <a:r>
              <a:rPr sz="1700" b="0">
                <a:solidFill>
                  <a:srgbClr val="E2E8F0"/>
                </a:solidFill>
                <a:latin typeface="Segoe UI"/>
              </a:rPr>
              <a:t>grand public sans voiture — étudiants, familles, couples en week-end, touristes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La solution : un service, pas un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Une réponse directe : où aller, et quoi faire à pied une fois là-bas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6400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0574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ENTRÉE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5740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gare de départ (2 782 gares) · centres d'intérêt · rayon de marche 500 m – 2 km · durée max · date de l'escapade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999232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2999232"/>
            <a:ext cx="64008" cy="10241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273552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38BDF8"/>
                </a:solidFill>
                <a:latin typeface="Segoe UI"/>
              </a:rPr>
              <a:t>TRAITEMENT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273552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trajet + isochrone SNCF + météo à la date choisie + activités à pied + affluence + CO₂  →  score pondéré explicable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15384"/>
            <a:ext cx="10607040" cy="10241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215384"/>
            <a:ext cx="64008" cy="1024128"/>
          </a:xfrm>
          <a:prstGeom prst="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489704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>
                <a:solidFill>
                  <a:srgbClr val="22C55E"/>
                </a:solidFill>
                <a:latin typeface="Segoe UI"/>
              </a:rPr>
              <a:t>RÉPONSE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489704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>
                <a:solidFill>
                  <a:srgbClr val="E2E8F0"/>
                </a:solidFill>
                <a:latin typeface="Segoe UI"/>
              </a:rPr>
              <a:t>top des destinations classées + liste nominative des activités faisables à pied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541264"/>
            <a:ext cx="5184648" cy="658368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41264"/>
            <a:ext cx="5184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🖥️  App web Streamlit — carte interactive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5541264"/>
            <a:ext cx="5184648" cy="658368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2" y="5541264"/>
            <a:ext cx="5184648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⌨️  CLI — classement + reco dans le terminal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Démo — application web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Streamlit · carte pydeck · classement et activités en direct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190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streamlit run app.py   →  http://localhost:8501 — capture réelle, données live</a:t>
            </a:r>
            <a:r>
              <a:rPr sz="1300" b="0">
                <a:solidFill>
                  <a:srgbClr val="94A3B8"/>
                </a:solidFill>
                <a:latin typeface="Segoe UI"/>
              </a:rPr>
              <a:t/>
            </a:r>
          </a:p>
        </p:txBody>
      </p:sp>
      <p:pic>
        <p:nvPicPr>
          <p:cNvPr id="8" name="Picture 7" descr="app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1572768"/>
            <a:ext cx="8642386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Un connecteur par source · tout passe par un cache JSON avec repli automatique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98848" y="1481328"/>
            <a:ext cx="3200400" cy="530352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98848" y="1481328"/>
            <a:ext cx="32004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👤  Utilisateur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98464" y="2084831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670048" y="2432304"/>
            <a:ext cx="685800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432304"/>
            <a:ext cx="68580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8BDF8"/>
                </a:solidFill>
                <a:latin typeface="Consolas"/>
              </a:rPr>
              <a:t>app.py</a:t>
            </a:r>
            <a:r>
              <a:rPr sz="1400" b="1">
                <a:solidFill>
                  <a:srgbClr val="E2E8F0"/>
                </a:solidFill>
                <a:latin typeface="Segoe UI"/>
              </a:rPr>
              <a:t> (Streamlit)   ·   </a:t>
            </a:r>
            <a:r>
              <a:rPr sz="1400" b="1">
                <a:solidFill>
                  <a:srgbClr val="38BDF8"/>
                </a:solidFill>
                <a:latin typeface="Consolas"/>
              </a:rPr>
              <a:t>recommender.py</a:t>
            </a:r>
            <a:r>
              <a:rPr sz="1400" b="1">
                <a:solidFill>
                  <a:srgbClr val="E2E8F0"/>
                </a:solidFill>
                <a:latin typeface="Segoe UI"/>
              </a:rPr>
              <a:t> (CLI)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98464" y="3054096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70048" y="3401568"/>
            <a:ext cx="6858000" cy="603504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3401568"/>
            <a:ext cx="68580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Moteur de recommandation — collecte · ML : cosinus + profils k-means · score min-max winsorisé pondéré</a:t>
            </a:r>
            <a:r>
              <a:rPr sz="1400" b="1">
                <a:solidFill>
                  <a:srgbClr val="94A3B8"/>
                </a:solidFill>
                <a:latin typeface="Segoe UI"/>
              </a:rPr>
              <a:t/>
            </a:r>
          </a:p>
        </p:txBody>
      </p:sp>
      <p:sp>
        <p:nvSpPr>
          <p:cNvPr id="14" name="Down Arrow 13"/>
          <p:cNvSpPr/>
          <p:nvPr/>
        </p:nvSpPr>
        <p:spPr>
          <a:xfrm>
            <a:off x="5998464" y="4059936"/>
            <a:ext cx="201168" cy="292608"/>
          </a:xfrm>
          <a:prstGeom prst="downArrow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API SNCF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/places · /journeys · /isochrones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2148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2148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Open-Meteo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météo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7056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7056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DATAtourisme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(repli OSM)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31964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31964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OpenAgenda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événements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16872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16872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ADEME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CO₂ voiture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01780" y="4443984"/>
            <a:ext cx="1700784" cy="84124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01780" y="4443984"/>
            <a:ext cx="1700784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E2E8F0"/>
                </a:solidFill>
                <a:latin typeface="Segoe UI"/>
              </a:rPr>
              <a:t>frequentation-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94A3B8"/>
                </a:solidFill>
                <a:latin typeface="Segoe UI"/>
              </a:rPr>
              <a:t>gares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596128"/>
            <a:ext cx="10607040" cy="859536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22C5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669280"/>
            <a:ext cx="101498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22C55E"/>
                </a:solidFill>
                <a:latin typeface="Segoe UI"/>
              </a:rPr>
              <a:t>🛟 Mode dégradé : </a:t>
            </a:r>
            <a:r>
              <a:rPr sz="1400" b="0">
                <a:solidFill>
                  <a:srgbClr val="94A3B8"/>
                </a:solidFill>
                <a:latin typeface="Segoe UI"/>
              </a:rPr>
              <a:t>chaque appel passe par cache/*.json — si l'API échoue ou </a:t>
            </a:r>
            <a:r>
              <a:rPr sz="1300" b="0">
                <a:solidFill>
                  <a:srgbClr val="E2E8F0"/>
                </a:solidFill>
                <a:latin typeface="Consolas"/>
              </a:rPr>
              <a:t>RECO_CACHE_FIRST=1</a:t>
            </a:r>
            <a:r>
              <a:rPr sz="1400" b="0">
                <a:solidFill>
                  <a:srgbClr val="94A3B8"/>
                </a:solidFill>
                <a:latin typeface="Segoe UI"/>
              </a:rPr>
              <a:t>, on sert le cache : la démo tourne hors-ligne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7 sources de données croisées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Open data + APIs temps réel — aucune feature ne dépend uniquement de l'API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64208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4650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API SNCF /places · /journeys · /isochrones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74650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gares, durée &amp; CO₂ (départ 8 h le jour choisi), zone ≤ X 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04120" y="1755648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04120" y="1755648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central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331720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1401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Open-Meteo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2414016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météo à l'arrivée, à la date de l'escapade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04120" y="2423160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04120" y="2423160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999232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DATAtourisme → repli OpenStreetMap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081528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POIs à pied + densité touristique des gares candidates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3090672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04120" y="3090672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666744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749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frequentation-gares (SNCF)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74904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voyageurs/an → critère « calme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3758184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04120" y="3758184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334256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41655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ADEME Impact CO2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41655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CO₂ voiture officiel → économie vs voiture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04120" y="4425696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4425696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001768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08406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OpenAgenda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5084064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événements à venir dans la ville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04120" y="5093208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5093208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clé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669280"/>
            <a:ext cx="106070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75157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gares-de-voyageurs (SNCF)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720" y="5751576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référentiel des 2 782 gares de départ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104120" y="5760720"/>
            <a:ext cx="1097280" cy="384048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04120" y="5760720"/>
            <a:ext cx="109728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C55E"/>
                </a:solidFill>
                <a:latin typeface="Segoe UI"/>
              </a:rPr>
              <a:t>sans clé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Machine learning 1/2 — affinité content-based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Similarité cosinus entre le profil d'activités de la ville et les envies de l'utilisateur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Chaque ville = un vecteur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nb de POIs par catégorie :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Annecy = [plage 0 · culture 5 · patrim. 3 ·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E2E8F0"/>
                </a:solidFill>
                <a:latin typeface="Consolas"/>
              </a:rPr>
              <a:t>          nature 2 · gastro 4]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envies  = [0 · 1 · 1 · 0 · 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1">
                <a:solidFill>
                  <a:srgbClr val="38BDF8"/>
                </a:solidFill>
                <a:latin typeface="Segoe UI"/>
              </a:rPr>
              <a:t>Affinité = cos(ville, envies)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∈ [0, 1] — à quel point la ville colle aux envies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500" b="1">
                <a:solidFill>
                  <a:srgbClr val="22C55E"/>
                </a:solidFill>
                <a:latin typeface="Consolas"/>
              </a:rPr>
              <a:t>cos(Annecy, envies) = 0.98</a:t>
            </a:r>
          </a:p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→ 1er critère du score (poids 0.30)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348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Filtrage content-based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pas de boîte noire — on sait toujours pourquoi une ville est proposée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Personnalisé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le même classement change si on coche « plage » au lieu de « culture 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Implémentation maison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ml.py, ~30 lignes, numpy uniquement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E2E8F0"/>
                </a:solidFill>
                <a:latin typeface="Segoe UI"/>
              </a:rPr>
              <a:t>Machine learning 2/2 — profils de villes appris (k-means)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Segoe UI"/>
              </a:rPr>
              <a:t>Clustering non supervisé du mix d'activités (scikit-learn) — la 2e brique ML, apprise sur nos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k-means sur le mix d'activités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94A3B8"/>
                </a:solidFill>
                <a:latin typeface="Segoe UI"/>
              </a:rPr>
              <a:t>proportions de POIs, pas volumes — une petite ville très « patrimoine » rejoint les grandes</a:t>
            </a:r>
          </a:p>
          <a:p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r>
              <a:rPr sz="1300" b="0">
                <a:solidFill>
                  <a:srgbClr val="E2E8F0"/>
                </a:solidFill>
                <a:latin typeface="Consolas"/>
              </a:rPr>
              <a:t>z-scores par catégorie</a:t>
            </a:r>
            <a:r>
              <a:rPr sz="1350" b="0">
                <a:solidFill>
                  <a:srgbClr val="94A3B8"/>
                </a:solidFill>
                <a:latin typeface="Segoe UI"/>
              </a:rPr>
              <a:t> — sinon la gastronomie, omniprésente, écrase plage &amp; nature</a:t>
            </a:r>
          </a:p>
          <a:p>
            <a:r>
              <a:rPr sz="1350" b="0">
                <a:solidFill>
                  <a:srgbClr val="94A3B8"/>
                </a:solidFill>
                <a:latin typeface="Segoe UI"/>
              </a:rPr>
              <a:t>k choisi par silhouette (2–5) · random_state fixé → reproductible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1737360"/>
            <a:ext cx="5120640" cy="23774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65392" y="187451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38BDF8"/>
                </a:solidFill>
                <a:latin typeface="Segoe UI"/>
              </a:rPr>
              <a:t>Clusters nommés → explicable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5392" y="237744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>
                <a:solidFill>
                  <a:srgbClr val="94A3B8"/>
                </a:solidFill>
                <a:latin typeface="Segoe UI"/>
              </a:rPr>
              <a:t>nom = catégories sur-représentées du centroïde — sortie réelle :</a:t>
            </a:r>
          </a:p>
          <a:p>
            <a:r>
              <a:rPr sz="600" b="0">
                <a:solidFill>
                  <a:srgbClr val="E2E8F0"/>
                </a:solidFill>
                <a:latin typeface="Segoe UI"/>
              </a:rPr>
              <a:t> </a:t>
            </a:r>
          </a:p>
          <a:p>
            <a:r>
              <a:rPr sz="1300" b="0">
                <a:solidFill>
                  <a:srgbClr val="E2E8F0"/>
                </a:solidFill>
                <a:latin typeface="Consolas"/>
              </a:rPr>
              <a:t>Lille Europe → 🏛️ Patrimoine &amp; culture</a:t>
            </a:r>
          </a:p>
          <a:p>
            <a:r>
              <a:rPr sz="1300" b="1">
                <a:solidFill>
                  <a:srgbClr val="22C55E"/>
                </a:solidFill>
                <a:latin typeface="Consolas"/>
              </a:rPr>
              <a:t>même profil : Rennes 0.98 · Strasbourg 0.96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43484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« Villes au même profil »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la 1re reco ne convient pas ? alternatives au même ADN d'activités, triées par similarité cosinus</a:t>
            </a:r>
          </a:p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Modèle appris, non supervisé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entraîné à chaque exécution sur les POIs collectés, sans étiquettes ni boîte noire</a:t>
            </a:r>
          </a:p>
          <a:p>
            <a:r>
              <a:rPr sz="1500" b="1">
                <a:solidFill>
                  <a:srgbClr val="38BDF8"/>
                </a:solidFill>
                <a:latin typeface="Segoe UI"/>
              </a:rPr>
              <a:t>•  </a:t>
            </a:r>
            <a:r>
              <a:rPr sz="1500" b="1">
                <a:solidFill>
                  <a:srgbClr val="E2E8F0"/>
                </a:solidFill>
                <a:latin typeface="Segoe UI"/>
              </a:rPr>
              <a:t>Affiché partout</a:t>
            </a:r>
            <a:r>
              <a:rPr sz="1500" b="0">
                <a:solidFill>
                  <a:srgbClr val="94A3B8"/>
                </a:solidFill>
                <a:latin typeface="Segoe UI"/>
              </a:rPr>
              <a:t> — bandeau 🧭 + colonne Profil dans l'app Streamlit et la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Score composite explicable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Min-max winsorisé (p10–p90) · pondérations justifiées (guide 06) · détail par critère affiché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19656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🎯 Affinité (ML)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847088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00400" y="1847088"/>
            <a:ext cx="4754880" cy="365760"/>
          </a:xfrm>
          <a:prstGeom prst="round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847088"/>
            <a:ext cx="47548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74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similarité cosinus profil ville ↔ envies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786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☀️ Soleil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2606040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00400" y="2606040"/>
            <a:ext cx="3962400" cy="365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2606040"/>
            <a:ext cx="39624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63347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indice météo à l'arrivée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337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🤫 Calme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3364992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00400" y="3364992"/>
            <a:ext cx="3169920" cy="36576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3364992"/>
            <a:ext cx="31699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39242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fréquentation de la gare, inversée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09651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⏱️ Durée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4123944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200400" y="4123944"/>
            <a:ext cx="2377440" cy="365760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123944"/>
            <a:ext cx="23774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15137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trajet inversé — escapade, pas expédition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5546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1">
                <a:solidFill>
                  <a:srgbClr val="E2E8F0"/>
                </a:solidFill>
                <a:latin typeface="Segoe UI"/>
              </a:rPr>
              <a:t>🌍 CO₂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0" y="4882896"/>
            <a:ext cx="4754880" cy="3657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00400" y="4882896"/>
            <a:ext cx="1584960" cy="365760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0" y="4882896"/>
            <a:ext cx="1584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0F172A"/>
                </a:solidFill>
                <a:latin typeface="Segoe UI"/>
              </a:rPr>
              <a:t>0.10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91032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émissions inversées — promesse bas carbone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5760720"/>
            <a:ext cx="10607040" cy="73152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815584"/>
            <a:ext cx="101498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38BDF8"/>
                </a:solidFill>
                <a:latin typeface="Segoe UI"/>
              </a:rPr>
              <a:t>Honnêteté : </a:t>
            </a:r>
            <a:r>
              <a:rPr sz="1350" b="0">
                <a:solidFill>
                  <a:srgbClr val="94A3B8"/>
                </a:solidFill>
                <a:latin typeface="Segoe UI"/>
              </a:rPr>
              <a:t>on affiche le détail par critère, pas seulement le score final — limites assumées en soutenance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Résultat réel — samedi 13 juin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Depuis Paris Gare de Lyon · culture / gastronomie / patrimoine · 1 km à pied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9784080" cy="1965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45920" y="1956816"/>
            <a:ext cx="9052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#   Destination              Durée   Activ.   Affinité   Score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1   Annecy                    3h43      12       0.98      0.85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2   Avignon Centre            4h24      19       0.89      0.84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3   Montpellier Saint-Roch    4h38      16       0.85      0.78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93192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900" b="1">
                <a:solidFill>
                  <a:srgbClr val="22C55E"/>
                </a:solidFill>
                <a:latin typeface="Segoe UI"/>
              </a:rPr>
              <a:t>🚆 Cap sur Annecy — affinité 98 %, −61 kg CO₂ vs voiture, 88 événements à venir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572000"/>
            <a:ext cx="9784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À pied : Esplanade Paul Grimault · Chez Mamie Lise · Porte Perrière · Médiathèque Bonlieu…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5349240"/>
            <a:ext cx="7772400" cy="86868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544068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1">
                <a:solidFill>
                  <a:srgbClr val="E2E8F0"/>
                </a:solidFill>
                <a:latin typeface="Segoe UI"/>
              </a:rPr>
              <a:t>Preuve d'usage API : </a:t>
            </a:r>
            <a:r>
              <a:rPr sz="1350" b="0">
                <a:solidFill>
                  <a:srgbClr val="94A3B8"/>
                </a:solidFill>
                <a:latin typeface="Segoe UI"/>
              </a:rPr>
              <a:t>vraies requêtes authentifiées (HTTP 200) — </a:t>
            </a:r>
            <a:r>
              <a:rPr sz="1250" b="0">
                <a:solidFill>
                  <a:srgbClr val="22C55E"/>
                </a:solidFill>
                <a:latin typeface="Consolas"/>
              </a:rPr>
              <a:t>curl -u $SNCF_API_KEY: …/journeys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Robustesse &amp; sécurité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Les bonnes pratiques du module, appliquées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Clés jamais exposées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.env à la racine, dans le .gitignore — auth en header HTTP Basic, jamais dans l'URL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935224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82112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063240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Mode dégradé systématique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cache JSON par appel + repli automatique — démo possible 100 % hors-ligne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87368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34256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215384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Quota surveillé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compteur journalier (5 000 req/j) avec alerte à 3 000 → bascule cache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239512"/>
            <a:ext cx="10607040" cy="987552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4864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E2E8F0"/>
                </a:solidFill>
                <a:latin typeface="Segoe UI"/>
              </a:rPr>
              <a:t>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367528"/>
            <a:ext cx="9418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650" b="1">
                <a:solidFill>
                  <a:srgbClr val="E2E8F0"/>
                </a:solidFill>
                <a:latin typeface="Segoe UI"/>
              </a:rPr>
              <a:t>Replis par source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50" b="0">
                <a:solidFill>
                  <a:srgbClr val="94A3B8"/>
                </a:solidFill>
                <a:latin typeface="Segoe UI"/>
              </a:rPr>
              <a:t>DATAtourisme → OpenStreetMap · ADEME → facteur SNCF 89 g/km · politesse Overpass 1 req/s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75488"/>
            <a:ext cx="82296" cy="5669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900" b="1">
                <a:solidFill>
                  <a:srgbClr val="E2E8F0"/>
                </a:solidFill>
                <a:latin typeface="Segoe UI"/>
              </a:rPr>
              <a:t>Limites assumées 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0584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L'honnêteté fait partie du score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4572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F59E0B"/>
                </a:solidFill>
                <a:latin typeface="Segoe UI"/>
              </a:rPr>
              <a:t>Limites connues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Densité POIs = proxy OSM (repli : fréquentation)</a:t>
            </a:r>
            <a:r>
              <a:rPr sz="1450" b="1">
                <a:solidFill>
                  <a:srgbClr val="E2E8F0"/>
                </a:solidFill>
                <a:latin typeface="Segoe UI"/>
              </a:rPr>
              <a:t/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Météo limitée à ~16 jours de prévision</a:t>
            </a:r>
            <a:r>
              <a:rPr sz="1450" b="1">
                <a:solidFill>
                  <a:srgbClr val="E2E8F0"/>
                </a:solidFill>
                <a:latin typeface="Segoe UI"/>
              </a:rPr>
              <a:t/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Min-max winsorisé — peu parlant si peu de villes</a:t>
            </a:r>
            <a:r>
              <a:rPr sz="1450" b="1">
                <a:solidFill>
                  <a:srgbClr val="E2E8F0"/>
                </a:solidFill>
                <a:latin typeface="Segoe UI"/>
              </a:rPr>
              <a:t/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Comptage POIs approximatif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pas de tri qualitatif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627632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22C55E"/>
                </a:solidFill>
                <a:latin typeface="Segoe UI"/>
              </a:rPr>
              <a:t>Pistes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031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✓  Fait : candidates classées par densité de POIs</a:t>
            </a:r>
            <a:r>
              <a:rPr sz="1450" b="1">
                <a:solidFill>
                  <a:srgbClr val="E2E8F0"/>
                </a:solidFill>
                <a:latin typeface="Segoe UI"/>
              </a:rPr>
              <a:t/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✓  Fait : météo &amp; trains à la date du séjour</a:t>
            </a:r>
            <a:r>
              <a:rPr sz="1450" b="1">
                <a:solidFill>
                  <a:srgbClr val="E2E8F0"/>
                </a:solidFill>
                <a:latin typeface="Segoe UI"/>
              </a:rPr>
              <a:t/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Filtre accessibilité PMR</a:t>
            </a:r>
            <a:r>
              <a:rPr sz="1450" b="0">
                <a:solidFill>
                  <a:srgbClr val="94A3B8"/>
                </a:solidFill>
                <a:latin typeface="Segoe UI"/>
              </a:rPr>
              <a:t/>
            </a:r>
          </a:p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450" b="1">
                <a:solidFill>
                  <a:srgbClr val="38BDF8"/>
                </a:solidFill>
                <a:latin typeface="Segoe UI"/>
              </a:rPr>
              <a:t>•  </a:t>
            </a:r>
            <a:r>
              <a:rPr sz="1450" b="1">
                <a:solidFill>
                  <a:srgbClr val="E2E8F0"/>
                </a:solidFill>
                <a:latin typeface="Segoe UI"/>
              </a:rPr>
              <a:t>Angle prix</a:t>
            </a:r>
            <a:r>
              <a:rPr sz="1450" b="0">
                <a:solidFill>
                  <a:srgbClr val="94A3B8"/>
                </a:solidFill>
                <a:latin typeface="Segoe UI"/>
              </a:rPr>
              <a:t> — TGVmax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607040" cy="1234440"/>
          </a:xfrm>
          <a:prstGeom prst="roundRect">
            <a:avLst/>
          </a:prstGeom>
          <a:solidFill>
            <a:srgbClr val="1E293B"/>
          </a:solidFill>
          <a:ln w="1524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230368"/>
            <a:ext cx="10149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E2E8F0"/>
                </a:solidFill>
                <a:latin typeface="Segoe UI"/>
              </a:rPr>
              <a:t>Merci !  </a:t>
            </a:r>
            <a:r>
              <a:rPr sz="1700" b="0">
                <a:solidFill>
                  <a:srgbClr val="38BDF8"/>
                </a:solidFill>
                <a:latin typeface="Segoe UI"/>
              </a:rPr>
              <a:t>Place à la démo 🚆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22C55E"/>
                </a:solidFill>
                <a:latin typeface="Consolas"/>
              </a:rPr>
              <a:t>streamlit run app.py</a:t>
            </a:r>
            <a:r>
              <a:rPr sz="1300" b="0">
                <a:solidFill>
                  <a:srgbClr val="94A3B8"/>
                </a:solidFill>
                <a:latin typeface="Segoe UI"/>
              </a:rPr>
              <a:t>  ·  code commenté · mode dégradé · clés sécurisées · scoring explicable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